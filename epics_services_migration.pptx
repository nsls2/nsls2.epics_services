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2A992D-1BCD-49F4-9A52-4565A04B18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2EF3F7-0CE7-4E9E-AC78-7BCB9C9876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0FF4CD9-5791-41B9-8EFA-288831A29A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26E1D2C-1D50-43A8-911F-FC11DA89F5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9E9450A-9AF7-41AB-9E82-88DD886707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0E00EA1-5349-4067-B59F-B038E4FB89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C83B4C8-6EAC-43C0-81BD-D1807DD60B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6DB544B-E844-475E-B4A4-E5B098E7F3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590A586-E6BB-48A5-BF04-46C05CE92D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7F226E3-7CE1-4E98-9E2C-AA9C9FBEE3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CDEB7E3-236A-4F2A-B966-92DAD8847F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EE1CDA-0503-4440-B3AD-F62F6CA4A3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D33DCD-527E-44CB-A7F3-BFBEF8BF35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5BC4DA-D80A-40B6-85ED-6564F643A1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D7012E-4BC2-4EDC-81DD-4534CB0B13A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EAA41B-A08E-4A11-B2ED-A8F7B57D86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D3E1CB4-BCB2-48E7-84B0-25ED02D933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BBB49C-F86F-4991-B3E1-6944C3F415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AC792F-DE6D-40C2-BD30-2FDF83D25D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03586EA-AACE-40DD-8452-73C7EDCD2E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DB22C1-277D-4851-98DC-4716CC09A3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226A52F-E280-4889-9EBC-40CE75BA4B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2"/>
          <p:cNvSpPr/>
          <p:nvPr/>
        </p:nvSpPr>
        <p:spPr>
          <a:xfrm>
            <a:off x="914400" y="1645920"/>
            <a:ext cx="100573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EPICS Services Migration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914400" y="2743200"/>
            <a:ext cx="10057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4a90d9"/>
                </a:solidFill>
                <a:latin typeface="Calibri"/>
              </a:rPr>
              <a:t>ansible-epics-tools  →  nsls2.epics_services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4"/>
          <p:cNvSpPr/>
          <p:nvPr/>
        </p:nvSpPr>
        <p:spPr>
          <a:xfrm>
            <a:off x="914400" y="3840480"/>
            <a:ext cx="10057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bbbcc"/>
                </a:solidFill>
                <a:latin typeface="Calibri"/>
              </a:rPr>
              <a:t>Only the most recent, actively maintained roles were migrated.</a:t>
            </a:r>
            <a:br>
              <a:rPr sz="1600"/>
            </a:br>
            <a:r>
              <a:rPr b="0" lang="en-US" sz="1600" spc="-1" strike="noStrike">
                <a:solidFill>
                  <a:srgbClr val="bbbbcc"/>
                </a:solidFill>
                <a:latin typeface="Calibri"/>
              </a:rPr>
              <a:t>Legacy and superseded roles remain in the old repository.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457200" y="18288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Role Migration Overview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ounded Rectangle 3"/>
          <p:cNvSpPr/>
          <p:nvPr/>
        </p:nvSpPr>
        <p:spPr>
          <a:xfrm>
            <a:off x="7772400" y="228600"/>
            <a:ext cx="1644840" cy="410400"/>
          </a:xfrm>
          <a:prstGeom prst="roundRect">
            <a:avLst>
              <a:gd name="adj" fmla="val 5000"/>
            </a:avLst>
          </a:prstGeom>
          <a:solidFill>
            <a:srgbClr val="1a3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7818120" y="246960"/>
            <a:ext cx="1553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7ae60"/>
                </a:solidFill>
                <a:latin typeface="Calibri"/>
              </a:rPr>
              <a:t>✓  </a:t>
            </a:r>
            <a:r>
              <a:rPr b="1" lang="en-US" sz="1300" spc="-1" strike="noStrike">
                <a:solidFill>
                  <a:srgbClr val="27ae60"/>
                </a:solidFill>
                <a:latin typeface="Calibri"/>
              </a:rPr>
              <a:t>Migrated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Rounded Rectangle 5"/>
          <p:cNvSpPr/>
          <p:nvPr/>
        </p:nvSpPr>
        <p:spPr>
          <a:xfrm>
            <a:off x="9601200" y="228600"/>
            <a:ext cx="2102040" cy="410400"/>
          </a:xfrm>
          <a:prstGeom prst="roundRect">
            <a:avLst>
              <a:gd name="adj" fmla="val 5000"/>
            </a:avLst>
          </a:prstGeom>
          <a:solidFill>
            <a:srgbClr val="3a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9646920" y="246960"/>
            <a:ext cx="2010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74c3c"/>
                </a:solidFill>
                <a:latin typeface="Calibri"/>
              </a:rPr>
              <a:t>✗  </a:t>
            </a:r>
            <a:r>
              <a:rPr b="1" lang="en-US" sz="1300" spc="-1" strike="noStrike">
                <a:solidFill>
                  <a:srgbClr val="e74c3c"/>
                </a:solidFill>
                <a:latin typeface="Calibri"/>
              </a:rPr>
              <a:t>Not Migrated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Rectangle 7"/>
          <p:cNvSpPr/>
          <p:nvPr/>
        </p:nvSpPr>
        <p:spPr>
          <a:xfrm>
            <a:off x="365760" y="914400"/>
            <a:ext cx="11337480" cy="215280"/>
          </a:xfrm>
          <a:prstGeom prst="rect">
            <a:avLst/>
          </a:prstGeom>
          <a:solidFill>
            <a:srgbClr val="3333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365760" y="914400"/>
            <a:ext cx="347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</a:rPr>
              <a:t>Role in ansible-epics-tools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9"/>
          <p:cNvSpPr/>
          <p:nvPr/>
        </p:nvSpPr>
        <p:spPr>
          <a:xfrm>
            <a:off x="3840480" y="914400"/>
            <a:ext cx="3473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</a:rPr>
              <a:t>Role in nsls2.epics_services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7315200" y="914400"/>
            <a:ext cx="1096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</a:rPr>
              <a:t>Status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11"/>
          <p:cNvSpPr/>
          <p:nvPr/>
        </p:nvSpPr>
        <p:spPr>
          <a:xfrm>
            <a:off x="8412480" y="914400"/>
            <a:ext cx="3290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</a:rPr>
              <a:t>Notes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ectangle 12"/>
          <p:cNvSpPr/>
          <p:nvPr/>
        </p:nvSpPr>
        <p:spPr>
          <a:xfrm>
            <a:off x="365760" y="1130760"/>
            <a:ext cx="11337480" cy="203760"/>
          </a:xfrm>
          <a:prstGeom prst="rect">
            <a:avLst/>
          </a:prstGeom>
          <a:solidFill>
            <a:srgbClr val="2a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13"/>
          <p:cNvSpPr/>
          <p:nvPr/>
        </p:nvSpPr>
        <p:spPr>
          <a:xfrm>
            <a:off x="411480" y="1130760"/>
            <a:ext cx="731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</a:rPr>
              <a:t>CS-Studio / Phoebus Display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 14"/>
          <p:cNvSpPr/>
          <p:nvPr/>
        </p:nvSpPr>
        <p:spPr>
          <a:xfrm>
            <a:off x="365760" y="1335960"/>
            <a:ext cx="11337480" cy="18108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15"/>
          <p:cNvSpPr/>
          <p:nvPr/>
        </p:nvSpPr>
        <p:spPr>
          <a:xfrm>
            <a:off x="411480" y="13359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cs_studio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16"/>
          <p:cNvSpPr/>
          <p:nvPr/>
        </p:nvSpPr>
        <p:spPr>
          <a:xfrm>
            <a:off x="3886200" y="13359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17"/>
          <p:cNvSpPr/>
          <p:nvPr/>
        </p:nvSpPr>
        <p:spPr>
          <a:xfrm>
            <a:off x="7315200" y="133596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18"/>
          <p:cNvSpPr/>
          <p:nvPr/>
        </p:nvSpPr>
        <p:spPr>
          <a:xfrm>
            <a:off x="8458200" y="133596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Legacy CS-Studio installer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 19"/>
          <p:cNvSpPr/>
          <p:nvPr/>
        </p:nvSpPr>
        <p:spPr>
          <a:xfrm>
            <a:off x="365760" y="151776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0"/>
          <p:cNvSpPr/>
          <p:nvPr/>
        </p:nvSpPr>
        <p:spPr>
          <a:xfrm>
            <a:off x="411480" y="1517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cs_studio_opis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21"/>
          <p:cNvSpPr/>
          <p:nvPr/>
        </p:nvSpPr>
        <p:spPr>
          <a:xfrm>
            <a:off x="3886200" y="1517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cs_studio_bobs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22"/>
          <p:cNvSpPr/>
          <p:nvPr/>
        </p:nvSpPr>
        <p:spPr>
          <a:xfrm>
            <a:off x="7315200" y="151776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3"/>
          <p:cNvSpPr/>
          <p:nvPr/>
        </p:nvSpPr>
        <p:spPr>
          <a:xfrm>
            <a:off x="8458200" y="151776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Renamed: opis → bobs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 24"/>
          <p:cNvSpPr/>
          <p:nvPr/>
        </p:nvSpPr>
        <p:spPr>
          <a:xfrm>
            <a:off x="365760" y="1700280"/>
            <a:ext cx="11337480" cy="18108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25"/>
          <p:cNvSpPr/>
          <p:nvPr/>
        </p:nvSpPr>
        <p:spPr>
          <a:xfrm>
            <a:off x="411480" y="17002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cs_studio_opis_web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26"/>
          <p:cNvSpPr/>
          <p:nvPr/>
        </p:nvSpPr>
        <p:spPr>
          <a:xfrm>
            <a:off x="3886200" y="17002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cs_studio_bobs_web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27"/>
          <p:cNvSpPr/>
          <p:nvPr/>
        </p:nvSpPr>
        <p:spPr>
          <a:xfrm>
            <a:off x="7315200" y="170028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28"/>
          <p:cNvSpPr/>
          <p:nvPr/>
        </p:nvSpPr>
        <p:spPr>
          <a:xfrm>
            <a:off x="8458200" y="170028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Renamed: opis → bobs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ectangle 29"/>
          <p:cNvSpPr/>
          <p:nvPr/>
        </p:nvSpPr>
        <p:spPr>
          <a:xfrm>
            <a:off x="365760" y="188244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30"/>
          <p:cNvSpPr/>
          <p:nvPr/>
        </p:nvSpPr>
        <p:spPr>
          <a:xfrm>
            <a:off x="411480" y="18824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cs_studio_opis_web_cache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31"/>
          <p:cNvSpPr/>
          <p:nvPr/>
        </p:nvSpPr>
        <p:spPr>
          <a:xfrm>
            <a:off x="3886200" y="18824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cs_studio_bobs_web_cache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32"/>
          <p:cNvSpPr/>
          <p:nvPr/>
        </p:nvSpPr>
        <p:spPr>
          <a:xfrm>
            <a:off x="7315200" y="188244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33"/>
          <p:cNvSpPr/>
          <p:nvPr/>
        </p:nvSpPr>
        <p:spPr>
          <a:xfrm>
            <a:off x="8458200" y="188244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Renamed: opis → bobs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 34"/>
          <p:cNvSpPr/>
          <p:nvPr/>
        </p:nvSpPr>
        <p:spPr>
          <a:xfrm>
            <a:off x="365760" y="206460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35"/>
          <p:cNvSpPr/>
          <p:nvPr/>
        </p:nvSpPr>
        <p:spPr>
          <a:xfrm>
            <a:off x="411480" y="2064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cs_studio_phoebus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36"/>
          <p:cNvSpPr/>
          <p:nvPr/>
        </p:nvSpPr>
        <p:spPr>
          <a:xfrm>
            <a:off x="3886200" y="2064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cs_studio_phoebus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37"/>
          <p:cNvSpPr/>
          <p:nvPr/>
        </p:nvSpPr>
        <p:spPr>
          <a:xfrm>
            <a:off x="7315200" y="20646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38"/>
          <p:cNvSpPr/>
          <p:nvPr/>
        </p:nvSpPr>
        <p:spPr>
          <a:xfrm>
            <a:off x="8458200" y="206460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93" name="Rectangle 39"/>
          <p:cNvSpPr/>
          <p:nvPr/>
        </p:nvSpPr>
        <p:spPr>
          <a:xfrm>
            <a:off x="365760" y="224676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40"/>
          <p:cNvSpPr/>
          <p:nvPr/>
        </p:nvSpPr>
        <p:spPr>
          <a:xfrm>
            <a:off x="411480" y="2246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cs_studio_phoebus_old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41"/>
          <p:cNvSpPr/>
          <p:nvPr/>
        </p:nvSpPr>
        <p:spPr>
          <a:xfrm>
            <a:off x="3886200" y="2246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42"/>
          <p:cNvSpPr/>
          <p:nvPr/>
        </p:nvSpPr>
        <p:spPr>
          <a:xfrm>
            <a:off x="7315200" y="224676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43"/>
          <p:cNvSpPr/>
          <p:nvPr/>
        </p:nvSpPr>
        <p:spPr>
          <a:xfrm>
            <a:off x="8458200" y="224676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Superseded by cs_studio_phoebus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 44"/>
          <p:cNvSpPr/>
          <p:nvPr/>
        </p:nvSpPr>
        <p:spPr>
          <a:xfrm>
            <a:off x="365760" y="242892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45"/>
          <p:cNvSpPr/>
          <p:nvPr/>
        </p:nvSpPr>
        <p:spPr>
          <a:xfrm>
            <a:off x="411480" y="24289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cs_studio_preferences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46"/>
          <p:cNvSpPr/>
          <p:nvPr/>
        </p:nvSpPr>
        <p:spPr>
          <a:xfrm>
            <a:off x="3886200" y="24289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cs_studio_preferences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47"/>
          <p:cNvSpPr/>
          <p:nvPr/>
        </p:nvSpPr>
        <p:spPr>
          <a:xfrm>
            <a:off x="7315200" y="242892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48"/>
          <p:cNvSpPr/>
          <p:nvPr/>
        </p:nvSpPr>
        <p:spPr>
          <a:xfrm>
            <a:off x="8458200" y="242892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03" name="Rectangle 49"/>
          <p:cNvSpPr/>
          <p:nvPr/>
        </p:nvSpPr>
        <p:spPr>
          <a:xfrm>
            <a:off x="365760" y="2611080"/>
            <a:ext cx="11337480" cy="204120"/>
          </a:xfrm>
          <a:prstGeom prst="rect">
            <a:avLst/>
          </a:prstGeom>
          <a:solidFill>
            <a:srgbClr val="2a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50"/>
          <p:cNvSpPr/>
          <p:nvPr/>
        </p:nvSpPr>
        <p:spPr>
          <a:xfrm>
            <a:off x="411480" y="2611080"/>
            <a:ext cx="7314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4a90d9"/>
                </a:solidFill>
                <a:latin typeface="Calibri"/>
              </a:rPr>
              <a:t>EPICS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ectangle 51"/>
          <p:cNvSpPr/>
          <p:nvPr/>
        </p:nvSpPr>
        <p:spPr>
          <a:xfrm>
            <a:off x="365760" y="281628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52"/>
          <p:cNvSpPr/>
          <p:nvPr/>
        </p:nvSpPr>
        <p:spPr>
          <a:xfrm>
            <a:off x="411480" y="28162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epics_tools_libs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53"/>
          <p:cNvSpPr/>
          <p:nvPr/>
        </p:nvSpPr>
        <p:spPr>
          <a:xfrm>
            <a:off x="3886200" y="28162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epics_tools_libs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54"/>
          <p:cNvSpPr/>
          <p:nvPr/>
        </p:nvSpPr>
        <p:spPr>
          <a:xfrm>
            <a:off x="7315200" y="281628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55"/>
          <p:cNvSpPr/>
          <p:nvPr/>
        </p:nvSpPr>
        <p:spPr>
          <a:xfrm>
            <a:off x="8458200" y="281628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10" name="Rectangle 56"/>
          <p:cNvSpPr/>
          <p:nvPr/>
        </p:nvSpPr>
        <p:spPr>
          <a:xfrm>
            <a:off x="365760" y="2998440"/>
            <a:ext cx="11337480" cy="18108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57"/>
          <p:cNvSpPr/>
          <p:nvPr/>
        </p:nvSpPr>
        <p:spPr>
          <a:xfrm>
            <a:off x="411480" y="29984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epics_tools_services_aa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58"/>
          <p:cNvSpPr/>
          <p:nvPr/>
        </p:nvSpPr>
        <p:spPr>
          <a:xfrm>
            <a:off x="3886200" y="29984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59"/>
          <p:cNvSpPr/>
          <p:nvPr/>
        </p:nvSpPr>
        <p:spPr>
          <a:xfrm>
            <a:off x="7315200" y="299844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60"/>
          <p:cNvSpPr/>
          <p:nvPr/>
        </p:nvSpPr>
        <p:spPr>
          <a:xfrm>
            <a:off x="8458200" y="299844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Superseded by aa_cluster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 61"/>
          <p:cNvSpPr/>
          <p:nvPr/>
        </p:nvSpPr>
        <p:spPr>
          <a:xfrm>
            <a:off x="365760" y="318060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62"/>
          <p:cNvSpPr/>
          <p:nvPr/>
        </p:nvSpPr>
        <p:spPr>
          <a:xfrm>
            <a:off x="411480" y="3180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epics_tools_services_aa_cluster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63"/>
          <p:cNvSpPr/>
          <p:nvPr/>
        </p:nvSpPr>
        <p:spPr>
          <a:xfrm>
            <a:off x="3886200" y="3180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epics_tools_services_aa_cluster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64"/>
          <p:cNvSpPr/>
          <p:nvPr/>
        </p:nvSpPr>
        <p:spPr>
          <a:xfrm>
            <a:off x="7315200" y="31806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Box 65"/>
          <p:cNvSpPr/>
          <p:nvPr/>
        </p:nvSpPr>
        <p:spPr>
          <a:xfrm>
            <a:off x="8458200" y="318060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20" name="Rectangle 66"/>
          <p:cNvSpPr/>
          <p:nvPr/>
        </p:nvSpPr>
        <p:spPr>
          <a:xfrm>
            <a:off x="365760" y="336276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67"/>
          <p:cNvSpPr/>
          <p:nvPr/>
        </p:nvSpPr>
        <p:spPr>
          <a:xfrm>
            <a:off x="411480" y="3362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epics_tools_services_aa_customization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68"/>
          <p:cNvSpPr/>
          <p:nvPr/>
        </p:nvSpPr>
        <p:spPr>
          <a:xfrm>
            <a:off x="3886200" y="3362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69"/>
          <p:cNvSpPr/>
          <p:nvPr/>
        </p:nvSpPr>
        <p:spPr>
          <a:xfrm>
            <a:off x="7315200" y="336276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70"/>
          <p:cNvSpPr/>
          <p:nvPr/>
        </p:nvSpPr>
        <p:spPr>
          <a:xfrm>
            <a:off x="8458200" y="336276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NSLS2-specific; now parameterized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ectangle 71"/>
          <p:cNvSpPr/>
          <p:nvPr/>
        </p:nvSpPr>
        <p:spPr>
          <a:xfrm>
            <a:off x="365760" y="3545280"/>
            <a:ext cx="11337480" cy="18108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72"/>
          <p:cNvSpPr/>
          <p:nvPr/>
        </p:nvSpPr>
        <p:spPr>
          <a:xfrm>
            <a:off x="411480" y="35452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epics_tools_services_aa_fix_systemd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73"/>
          <p:cNvSpPr/>
          <p:nvPr/>
        </p:nvSpPr>
        <p:spPr>
          <a:xfrm>
            <a:off x="3886200" y="35452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74"/>
          <p:cNvSpPr/>
          <p:nvPr/>
        </p:nvSpPr>
        <p:spPr>
          <a:xfrm>
            <a:off x="7315200" y="354528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75"/>
          <p:cNvSpPr/>
          <p:nvPr/>
        </p:nvSpPr>
        <p:spPr>
          <a:xfrm>
            <a:off x="8458200" y="354528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One-time fix role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 76"/>
          <p:cNvSpPr/>
          <p:nvPr/>
        </p:nvSpPr>
        <p:spPr>
          <a:xfrm>
            <a:off x="365760" y="372744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77"/>
          <p:cNvSpPr/>
          <p:nvPr/>
        </p:nvSpPr>
        <p:spPr>
          <a:xfrm>
            <a:off x="411480" y="37274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epics_tools_services_beast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78"/>
          <p:cNvSpPr/>
          <p:nvPr/>
        </p:nvSpPr>
        <p:spPr>
          <a:xfrm>
            <a:off x="3886200" y="37274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79"/>
          <p:cNvSpPr/>
          <p:nvPr/>
        </p:nvSpPr>
        <p:spPr>
          <a:xfrm>
            <a:off x="7315200" y="372744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80"/>
          <p:cNvSpPr/>
          <p:nvPr/>
        </p:nvSpPr>
        <p:spPr>
          <a:xfrm>
            <a:off x="8458200" y="372744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Superseded by phoebus_alarm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 81"/>
          <p:cNvSpPr/>
          <p:nvPr/>
        </p:nvSpPr>
        <p:spPr>
          <a:xfrm>
            <a:off x="365760" y="3909600"/>
            <a:ext cx="11337480" cy="18108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82"/>
          <p:cNvSpPr/>
          <p:nvPr/>
        </p:nvSpPr>
        <p:spPr>
          <a:xfrm>
            <a:off x="411480" y="3909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epics_tools_services_cf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83"/>
          <p:cNvSpPr/>
          <p:nvPr/>
        </p:nvSpPr>
        <p:spPr>
          <a:xfrm>
            <a:off x="3886200" y="3909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epics_tools_services_cf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84"/>
          <p:cNvSpPr/>
          <p:nvPr/>
        </p:nvSpPr>
        <p:spPr>
          <a:xfrm>
            <a:off x="7315200" y="39096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85"/>
          <p:cNvSpPr/>
          <p:nvPr/>
        </p:nvSpPr>
        <p:spPr>
          <a:xfrm>
            <a:off x="8458200" y="3909600"/>
            <a:ext cx="3290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40" name="Rectangle 86"/>
          <p:cNvSpPr/>
          <p:nvPr/>
        </p:nvSpPr>
        <p:spPr>
          <a:xfrm>
            <a:off x="365760" y="4091760"/>
            <a:ext cx="11337480" cy="18108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87"/>
          <p:cNvSpPr/>
          <p:nvPr/>
        </p:nvSpPr>
        <p:spPr>
          <a:xfrm>
            <a:off x="411480" y="4091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epics_tools_services_elastic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88"/>
          <p:cNvSpPr/>
          <p:nvPr/>
        </p:nvSpPr>
        <p:spPr>
          <a:xfrm>
            <a:off x="3886200" y="40917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epics_tools_services_elastic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89"/>
          <p:cNvSpPr/>
          <p:nvPr/>
        </p:nvSpPr>
        <p:spPr>
          <a:xfrm>
            <a:off x="7315200" y="409176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90"/>
          <p:cNvSpPr/>
          <p:nvPr/>
        </p:nvSpPr>
        <p:spPr>
          <a:xfrm>
            <a:off x="8458200" y="4091760"/>
            <a:ext cx="3290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45" name="Rectangle 91"/>
          <p:cNvSpPr/>
          <p:nvPr/>
        </p:nvSpPr>
        <p:spPr>
          <a:xfrm>
            <a:off x="365760" y="427392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92"/>
          <p:cNvSpPr/>
          <p:nvPr/>
        </p:nvSpPr>
        <p:spPr>
          <a:xfrm>
            <a:off x="411480" y="42739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epics_tools_services_kafka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93"/>
          <p:cNvSpPr/>
          <p:nvPr/>
        </p:nvSpPr>
        <p:spPr>
          <a:xfrm>
            <a:off x="3886200" y="42739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epics_tools_services_kafka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94"/>
          <p:cNvSpPr/>
          <p:nvPr/>
        </p:nvSpPr>
        <p:spPr>
          <a:xfrm>
            <a:off x="7315200" y="427392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95"/>
          <p:cNvSpPr/>
          <p:nvPr/>
        </p:nvSpPr>
        <p:spPr>
          <a:xfrm>
            <a:off x="8458200" y="427392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50" name="Rectangle 96"/>
          <p:cNvSpPr/>
          <p:nvPr/>
        </p:nvSpPr>
        <p:spPr>
          <a:xfrm>
            <a:off x="365760" y="445608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97"/>
          <p:cNvSpPr/>
          <p:nvPr/>
        </p:nvSpPr>
        <p:spPr>
          <a:xfrm>
            <a:off x="411480" y="44560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epics_tools_services_mongo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98"/>
          <p:cNvSpPr/>
          <p:nvPr/>
        </p:nvSpPr>
        <p:spPr>
          <a:xfrm>
            <a:off x="3886200" y="44560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epics_tools_services_mongo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99"/>
          <p:cNvSpPr/>
          <p:nvPr/>
        </p:nvSpPr>
        <p:spPr>
          <a:xfrm>
            <a:off x="7315200" y="445608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100"/>
          <p:cNvSpPr/>
          <p:nvPr/>
        </p:nvSpPr>
        <p:spPr>
          <a:xfrm>
            <a:off x="8458200" y="445608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55" name="Rectangle 101"/>
          <p:cNvSpPr/>
          <p:nvPr/>
        </p:nvSpPr>
        <p:spPr>
          <a:xfrm>
            <a:off x="365760" y="4638600"/>
            <a:ext cx="11337480" cy="18108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02"/>
          <p:cNvSpPr/>
          <p:nvPr/>
        </p:nvSpPr>
        <p:spPr>
          <a:xfrm>
            <a:off x="411480" y="4638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epics_tools_services_olog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03"/>
          <p:cNvSpPr/>
          <p:nvPr/>
        </p:nvSpPr>
        <p:spPr>
          <a:xfrm>
            <a:off x="3886200" y="46386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104"/>
          <p:cNvSpPr/>
          <p:nvPr/>
        </p:nvSpPr>
        <p:spPr>
          <a:xfrm>
            <a:off x="7315200" y="46386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05"/>
          <p:cNvSpPr/>
          <p:nvPr/>
        </p:nvSpPr>
        <p:spPr>
          <a:xfrm>
            <a:off x="8458200" y="463860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Superseded by phoebus_olog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 106"/>
          <p:cNvSpPr/>
          <p:nvPr/>
        </p:nvSpPr>
        <p:spPr>
          <a:xfrm>
            <a:off x="365760" y="482040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07"/>
          <p:cNvSpPr/>
          <p:nvPr/>
        </p:nvSpPr>
        <p:spPr>
          <a:xfrm>
            <a:off x="411480" y="48204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epics_tools_services_olog_webclient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08"/>
          <p:cNvSpPr/>
          <p:nvPr/>
        </p:nvSpPr>
        <p:spPr>
          <a:xfrm>
            <a:off x="3886200" y="48204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09"/>
          <p:cNvSpPr/>
          <p:nvPr/>
        </p:nvSpPr>
        <p:spPr>
          <a:xfrm>
            <a:off x="7315200" y="48204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Box 110"/>
          <p:cNvSpPr/>
          <p:nvPr/>
        </p:nvSpPr>
        <p:spPr>
          <a:xfrm>
            <a:off x="8458200" y="482040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Superseded by phoebus_olog_webclient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 111"/>
          <p:cNvSpPr/>
          <p:nvPr/>
        </p:nvSpPr>
        <p:spPr>
          <a:xfrm>
            <a:off x="365760" y="5002920"/>
            <a:ext cx="11337480" cy="18108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112"/>
          <p:cNvSpPr/>
          <p:nvPr/>
        </p:nvSpPr>
        <p:spPr>
          <a:xfrm>
            <a:off x="411480" y="50029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epics_tools_services_phoebus_alarm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13"/>
          <p:cNvSpPr/>
          <p:nvPr/>
        </p:nvSpPr>
        <p:spPr>
          <a:xfrm>
            <a:off x="3886200" y="50029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epics_tools_services_phoebus_alarm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Box 114"/>
          <p:cNvSpPr/>
          <p:nvPr/>
        </p:nvSpPr>
        <p:spPr>
          <a:xfrm>
            <a:off x="7315200" y="500292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Box 115"/>
          <p:cNvSpPr/>
          <p:nvPr/>
        </p:nvSpPr>
        <p:spPr>
          <a:xfrm>
            <a:off x="8458200" y="5002920"/>
            <a:ext cx="3290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70" name="Rectangle 116"/>
          <p:cNvSpPr/>
          <p:nvPr/>
        </p:nvSpPr>
        <p:spPr>
          <a:xfrm>
            <a:off x="365760" y="5185080"/>
            <a:ext cx="11337480" cy="18108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117"/>
          <p:cNvSpPr/>
          <p:nvPr/>
        </p:nvSpPr>
        <p:spPr>
          <a:xfrm>
            <a:off x="411480" y="51850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epics_tools_services_phoebus_olog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118"/>
          <p:cNvSpPr/>
          <p:nvPr/>
        </p:nvSpPr>
        <p:spPr>
          <a:xfrm>
            <a:off x="3886200" y="518508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epics_tools_services_phoebus_olog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19"/>
          <p:cNvSpPr/>
          <p:nvPr/>
        </p:nvSpPr>
        <p:spPr>
          <a:xfrm>
            <a:off x="7315200" y="518508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120"/>
          <p:cNvSpPr/>
          <p:nvPr/>
        </p:nvSpPr>
        <p:spPr>
          <a:xfrm>
            <a:off x="8458200" y="5185080"/>
            <a:ext cx="3290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75" name="Rectangle 121"/>
          <p:cNvSpPr/>
          <p:nvPr/>
        </p:nvSpPr>
        <p:spPr>
          <a:xfrm>
            <a:off x="365760" y="536724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22"/>
          <p:cNvSpPr/>
          <p:nvPr/>
        </p:nvSpPr>
        <p:spPr>
          <a:xfrm>
            <a:off x="411480" y="53672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epics_tools_services_phoebus_olog_webclient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123"/>
          <p:cNvSpPr/>
          <p:nvPr/>
        </p:nvSpPr>
        <p:spPr>
          <a:xfrm>
            <a:off x="3886200" y="53672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epics_tools_services_phoebus_olog_webclient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124"/>
          <p:cNvSpPr/>
          <p:nvPr/>
        </p:nvSpPr>
        <p:spPr>
          <a:xfrm>
            <a:off x="7315200" y="536724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125"/>
          <p:cNvSpPr/>
          <p:nvPr/>
        </p:nvSpPr>
        <p:spPr>
          <a:xfrm>
            <a:off x="8458200" y="536724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80" name="Rectangle 126"/>
          <p:cNvSpPr/>
          <p:nvPr/>
        </p:nvSpPr>
        <p:spPr>
          <a:xfrm>
            <a:off x="365760" y="554940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27"/>
          <p:cNvSpPr/>
          <p:nvPr/>
        </p:nvSpPr>
        <p:spPr>
          <a:xfrm>
            <a:off x="411480" y="55494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epics_tools_services_phoebus_web_runtime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28"/>
          <p:cNvSpPr/>
          <p:nvPr/>
        </p:nvSpPr>
        <p:spPr>
          <a:xfrm>
            <a:off x="3886200" y="55494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epics_tools_services_phoebus_web_runtime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Box 129"/>
          <p:cNvSpPr/>
          <p:nvPr/>
        </p:nvSpPr>
        <p:spPr>
          <a:xfrm>
            <a:off x="7315200" y="55494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130"/>
          <p:cNvSpPr/>
          <p:nvPr/>
        </p:nvSpPr>
        <p:spPr>
          <a:xfrm>
            <a:off x="8458200" y="554940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85" name="Rectangle 131"/>
          <p:cNvSpPr/>
          <p:nvPr/>
        </p:nvSpPr>
        <p:spPr>
          <a:xfrm>
            <a:off x="365760" y="5731560"/>
            <a:ext cx="11337480" cy="18144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132"/>
          <p:cNvSpPr/>
          <p:nvPr/>
        </p:nvSpPr>
        <p:spPr>
          <a:xfrm>
            <a:off x="411480" y="57315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epics_tools_services_recceiver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133"/>
          <p:cNvSpPr/>
          <p:nvPr/>
        </p:nvSpPr>
        <p:spPr>
          <a:xfrm>
            <a:off x="3886200" y="57315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epics_tools_services_recceiver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134"/>
          <p:cNvSpPr/>
          <p:nvPr/>
        </p:nvSpPr>
        <p:spPr>
          <a:xfrm>
            <a:off x="7315200" y="573156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Box 135"/>
          <p:cNvSpPr/>
          <p:nvPr/>
        </p:nvSpPr>
        <p:spPr>
          <a:xfrm>
            <a:off x="8458200" y="573156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90" name="Rectangle 136"/>
          <p:cNvSpPr/>
          <p:nvPr/>
        </p:nvSpPr>
        <p:spPr>
          <a:xfrm>
            <a:off x="365760" y="5913720"/>
            <a:ext cx="11337480" cy="18144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137"/>
          <p:cNvSpPr/>
          <p:nvPr/>
        </p:nvSpPr>
        <p:spPr>
          <a:xfrm>
            <a:off x="411480" y="59137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epics_tools_services_save_restore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Box 138"/>
          <p:cNvSpPr/>
          <p:nvPr/>
        </p:nvSpPr>
        <p:spPr>
          <a:xfrm>
            <a:off x="3886200" y="591372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epics_tools_services_save_restore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Box 139"/>
          <p:cNvSpPr/>
          <p:nvPr/>
        </p:nvSpPr>
        <p:spPr>
          <a:xfrm>
            <a:off x="7315200" y="591372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140"/>
          <p:cNvSpPr/>
          <p:nvPr/>
        </p:nvSpPr>
        <p:spPr>
          <a:xfrm>
            <a:off x="8458200" y="5913720"/>
            <a:ext cx="329076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195" name="Rectangle 141"/>
          <p:cNvSpPr/>
          <p:nvPr/>
        </p:nvSpPr>
        <p:spPr>
          <a:xfrm>
            <a:off x="365760" y="6096240"/>
            <a:ext cx="11337480" cy="18108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142"/>
          <p:cNvSpPr/>
          <p:nvPr/>
        </p:nvSpPr>
        <p:spPr>
          <a:xfrm>
            <a:off x="411480" y="60962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epics_tools_services_shift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143"/>
          <p:cNvSpPr/>
          <p:nvPr/>
        </p:nvSpPr>
        <p:spPr>
          <a:xfrm>
            <a:off x="3886200" y="609624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epics_tools_services_shift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Box 144"/>
          <p:cNvSpPr/>
          <p:nvPr/>
        </p:nvSpPr>
        <p:spPr>
          <a:xfrm>
            <a:off x="7315200" y="609624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145"/>
          <p:cNvSpPr/>
          <p:nvPr/>
        </p:nvSpPr>
        <p:spPr>
          <a:xfrm>
            <a:off x="8458200" y="6096240"/>
            <a:ext cx="3290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200" name="Rectangle 146"/>
          <p:cNvSpPr/>
          <p:nvPr/>
        </p:nvSpPr>
        <p:spPr>
          <a:xfrm>
            <a:off x="365760" y="6278400"/>
            <a:ext cx="11337480" cy="181080"/>
          </a:xfrm>
          <a:prstGeom prst="rect">
            <a:avLst/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147"/>
          <p:cNvSpPr/>
          <p:nvPr/>
        </p:nvSpPr>
        <p:spPr>
          <a:xfrm>
            <a:off x="411480" y="62784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epics_tools_services_tomcat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Box 148"/>
          <p:cNvSpPr/>
          <p:nvPr/>
        </p:nvSpPr>
        <p:spPr>
          <a:xfrm>
            <a:off x="3886200" y="627840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27ae60"/>
                </a:solidFill>
                <a:latin typeface="Calibri"/>
              </a:rPr>
              <a:t>epics_tools_services_tomcat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149"/>
          <p:cNvSpPr/>
          <p:nvPr/>
        </p:nvSpPr>
        <p:spPr>
          <a:xfrm>
            <a:off x="7315200" y="62784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150"/>
          <p:cNvSpPr/>
          <p:nvPr/>
        </p:nvSpPr>
        <p:spPr>
          <a:xfrm>
            <a:off x="8458200" y="6278400"/>
            <a:ext cx="329076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800" spc="-1" strike="noStrike">
              <a:solidFill>
                <a:srgbClr val="bbbbcc"/>
              </a:solidFill>
              <a:latin typeface="Calibri"/>
            </a:endParaRPr>
          </a:p>
        </p:txBody>
      </p:sp>
      <p:sp>
        <p:nvSpPr>
          <p:cNvPr id="205" name="Rectangle 151"/>
          <p:cNvSpPr/>
          <p:nvPr/>
        </p:nvSpPr>
        <p:spPr>
          <a:xfrm>
            <a:off x="365760" y="9820800"/>
            <a:ext cx="11337480" cy="291600"/>
          </a:xfrm>
          <a:prstGeom prst="rect">
            <a:avLst/>
          </a:prstGeom>
          <a:solidFill>
            <a:srgbClr val="2828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152"/>
          <p:cNvSpPr/>
          <p:nvPr/>
        </p:nvSpPr>
        <p:spPr>
          <a:xfrm>
            <a:off x="411480" y="64605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epics_tools_services_tomcat_ajp_fix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153"/>
          <p:cNvSpPr/>
          <p:nvPr/>
        </p:nvSpPr>
        <p:spPr>
          <a:xfrm>
            <a:off x="3886200" y="6460560"/>
            <a:ext cx="3473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88899"/>
                </a:solidFill>
                <a:latin typeface="Calibri"/>
              </a:rPr>
              <a:t>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Box 154"/>
          <p:cNvSpPr/>
          <p:nvPr/>
        </p:nvSpPr>
        <p:spPr>
          <a:xfrm>
            <a:off x="7315200" y="982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✗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55"/>
          <p:cNvSpPr/>
          <p:nvPr/>
        </p:nvSpPr>
        <p:spPr>
          <a:xfrm>
            <a:off x="8458200" y="6460560"/>
            <a:ext cx="32907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One-time fix role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457200" y="274320"/>
            <a:ext cx="1097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Migration Summary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ounded Rectangle 3"/>
          <p:cNvSpPr/>
          <p:nvPr/>
        </p:nvSpPr>
        <p:spPr>
          <a:xfrm>
            <a:off x="563760" y="1371600"/>
            <a:ext cx="2559240" cy="2010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ectangle 4"/>
          <p:cNvSpPr/>
          <p:nvPr/>
        </p:nvSpPr>
        <p:spPr>
          <a:xfrm>
            <a:off x="563760" y="1371600"/>
            <a:ext cx="2559240" cy="53640"/>
          </a:xfrm>
          <a:prstGeom prst="rect">
            <a:avLst/>
          </a:prstGeom>
          <a:solidFill>
            <a:srgbClr val="4a90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563760" y="1645920"/>
            <a:ext cx="25592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4a90d9"/>
                </a:solidFill>
                <a:latin typeface="Calibri"/>
              </a:rPr>
              <a:t>28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6"/>
          <p:cNvSpPr/>
          <p:nvPr/>
        </p:nvSpPr>
        <p:spPr>
          <a:xfrm>
            <a:off x="746640" y="2560320"/>
            <a:ext cx="2193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Total Roles in</a:t>
            </a:r>
            <a:br>
              <a:rPr sz="1400"/>
            </a:b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ansible-epics-tools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ounded Rectangle 7"/>
          <p:cNvSpPr/>
          <p:nvPr/>
        </p:nvSpPr>
        <p:spPr>
          <a:xfrm>
            <a:off x="3398400" y="1371600"/>
            <a:ext cx="2559240" cy="2010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Rectangle 8"/>
          <p:cNvSpPr/>
          <p:nvPr/>
        </p:nvSpPr>
        <p:spPr>
          <a:xfrm>
            <a:off x="3398400" y="1371600"/>
            <a:ext cx="2559240" cy="5364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9"/>
          <p:cNvSpPr/>
          <p:nvPr/>
        </p:nvSpPr>
        <p:spPr>
          <a:xfrm>
            <a:off x="3398400" y="1645920"/>
            <a:ext cx="25592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27ae60"/>
                </a:solidFill>
                <a:latin typeface="Calibri"/>
              </a:rPr>
              <a:t>19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3581280" y="2560320"/>
            <a:ext cx="2193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Migrated to</a:t>
            </a:r>
            <a:br>
              <a:rPr sz="1400"/>
            </a:b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nsls2.epics_services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Rounded Rectangle 11"/>
          <p:cNvSpPr/>
          <p:nvPr/>
        </p:nvSpPr>
        <p:spPr>
          <a:xfrm>
            <a:off x="6233040" y="1371600"/>
            <a:ext cx="2559240" cy="2010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Rectangle 12"/>
          <p:cNvSpPr/>
          <p:nvPr/>
        </p:nvSpPr>
        <p:spPr>
          <a:xfrm>
            <a:off x="6233040" y="1371600"/>
            <a:ext cx="2559240" cy="5364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3"/>
          <p:cNvSpPr/>
          <p:nvPr/>
        </p:nvSpPr>
        <p:spPr>
          <a:xfrm>
            <a:off x="6233040" y="1645920"/>
            <a:ext cx="25592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e74c3c"/>
                </a:solidFill>
                <a:latin typeface="Calibri"/>
              </a:rPr>
              <a:t>9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Box 14"/>
          <p:cNvSpPr/>
          <p:nvPr/>
        </p:nvSpPr>
        <p:spPr>
          <a:xfrm>
            <a:off x="6415920" y="2560320"/>
            <a:ext cx="2193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Not Migrated</a:t>
            </a:r>
            <a:br>
              <a:rPr sz="1400"/>
            </a:b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(Legacy / Superseded)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Rounded Rectangle 15"/>
          <p:cNvSpPr/>
          <p:nvPr/>
        </p:nvSpPr>
        <p:spPr>
          <a:xfrm>
            <a:off x="9067680" y="1371600"/>
            <a:ext cx="2559240" cy="2010600"/>
          </a:xfrm>
          <a:prstGeom prst="roundRect">
            <a:avLst>
              <a:gd name="adj" fmla="val 5000"/>
            </a:avLst>
          </a:prstGeom>
          <a:solidFill>
            <a:srgbClr val="22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16"/>
          <p:cNvSpPr/>
          <p:nvPr/>
        </p:nvSpPr>
        <p:spPr>
          <a:xfrm>
            <a:off x="9067680" y="1371600"/>
            <a:ext cx="2559240" cy="53640"/>
          </a:xfrm>
          <a:prstGeom prst="rect">
            <a:avLst/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17"/>
          <p:cNvSpPr/>
          <p:nvPr/>
        </p:nvSpPr>
        <p:spPr>
          <a:xfrm>
            <a:off x="9067680" y="1645920"/>
            <a:ext cx="255924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f39c12"/>
                </a:solidFill>
                <a:latin typeface="Calibri"/>
              </a:rPr>
              <a:t>3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18"/>
          <p:cNvSpPr/>
          <p:nvPr/>
        </p:nvSpPr>
        <p:spPr>
          <a:xfrm>
            <a:off x="9250560" y="2560320"/>
            <a:ext cx="2193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Renamed</a:t>
            </a:r>
            <a:br>
              <a:rPr sz="1400"/>
            </a:b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During Migration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19"/>
          <p:cNvSpPr/>
          <p:nvPr/>
        </p:nvSpPr>
        <p:spPr>
          <a:xfrm>
            <a:off x="1371600" y="3840480"/>
            <a:ext cx="9142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Key Migration Decisions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Box 20"/>
          <p:cNvSpPr/>
          <p:nvPr/>
        </p:nvSpPr>
        <p:spPr>
          <a:xfrm>
            <a:off x="1645920" y="4297680"/>
            <a:ext cx="914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Only the most recent versions of roles were brought over (e.g., Phoebus over BEAST, aa_cluster over aa)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21"/>
          <p:cNvSpPr/>
          <p:nvPr/>
        </p:nvSpPr>
        <p:spPr>
          <a:xfrm>
            <a:off x="1645920" y="4709160"/>
            <a:ext cx="914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OPI roles renamed to BOB to reflect the Phoebus .bob file format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22"/>
          <p:cNvSpPr/>
          <p:nvPr/>
        </p:nvSpPr>
        <p:spPr>
          <a:xfrm>
            <a:off x="1645920" y="5120640"/>
            <a:ext cx="914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NSLS2-specific configuration was parameterized out for generic reuse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23"/>
          <p:cNvSpPr/>
          <p:nvPr/>
        </p:nvSpPr>
        <p:spPr>
          <a:xfrm>
            <a:off x="1645920" y="5532120"/>
            <a:ext cx="9142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One-time fix roles (systemd fix, AJP fix) were not migrated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 3"/>
          <p:cNvSpPr/>
          <p:nvPr/>
        </p:nvSpPr>
        <p:spPr>
          <a:xfrm>
            <a:off x="0" y="0"/>
            <a:ext cx="12191400" cy="723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4"/>
          <p:cNvSpPr/>
          <p:nvPr/>
        </p:nvSpPr>
        <p:spPr>
          <a:xfrm>
            <a:off x="457200" y="182880"/>
            <a:ext cx="7314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Role Categories &amp; Dependencies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457200" y="59436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888899"/>
                </a:solidFill>
                <a:latin typeface="Calibri"/>
              </a:rPr>
              <a:t>Roles in nsls2.epics_services organized by function. Arrows show which infrastructure each service requires.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ounded Rectangle 6"/>
          <p:cNvSpPr/>
          <p:nvPr/>
        </p:nvSpPr>
        <p:spPr>
          <a:xfrm>
            <a:off x="320040" y="96012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d2215"/>
          </a:solidFill>
          <a:ln w="19050">
            <a:solidFill>
              <a:srgbClr val="e67e2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Rectangle 7"/>
          <p:cNvSpPr/>
          <p:nvPr/>
        </p:nvSpPr>
        <p:spPr>
          <a:xfrm>
            <a:off x="338400" y="960120"/>
            <a:ext cx="2353320" cy="45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8"/>
          <p:cNvSpPr/>
          <p:nvPr/>
        </p:nvSpPr>
        <p:spPr>
          <a:xfrm>
            <a:off x="411480" y="1024200"/>
            <a:ext cx="2206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e67e22"/>
                </a:solidFill>
                <a:latin typeface="Calibri"/>
              </a:rPr>
              <a:t>Infrastructure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9"/>
          <p:cNvSpPr/>
          <p:nvPr/>
        </p:nvSpPr>
        <p:spPr>
          <a:xfrm>
            <a:off x="411480" y="1234440"/>
            <a:ext cx="2206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alibri"/>
              </a:rPr>
              <a:t>Dependencies for services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Rounded Rectangle 10"/>
          <p:cNvSpPr/>
          <p:nvPr/>
        </p:nvSpPr>
        <p:spPr>
          <a:xfrm>
            <a:off x="2939040" y="960120"/>
            <a:ext cx="4128480" cy="369720"/>
          </a:xfrm>
          <a:prstGeom prst="roundRect">
            <a:avLst>
              <a:gd name="adj" fmla="val 6000"/>
            </a:avLst>
          </a:prstGeom>
          <a:solidFill>
            <a:srgbClr val="152d1e"/>
          </a:solidFill>
          <a:ln w="19050">
            <a:solidFill>
              <a:srgbClr val="27ae6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11"/>
          <p:cNvSpPr/>
          <p:nvPr/>
        </p:nvSpPr>
        <p:spPr>
          <a:xfrm>
            <a:off x="2957400" y="960120"/>
            <a:ext cx="4091760" cy="3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1160" bIns="-111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12"/>
          <p:cNvSpPr/>
          <p:nvPr/>
        </p:nvSpPr>
        <p:spPr>
          <a:xfrm>
            <a:off x="3030480" y="1007280"/>
            <a:ext cx="3945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EPICS Services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13"/>
          <p:cNvSpPr/>
          <p:nvPr/>
        </p:nvSpPr>
        <p:spPr>
          <a:xfrm>
            <a:off x="3030480" y="1162080"/>
            <a:ext cx="39456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alibri"/>
              </a:rPr>
              <a:t>End-user facing services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ounded Rectangle 14"/>
          <p:cNvSpPr/>
          <p:nvPr/>
        </p:nvSpPr>
        <p:spPr>
          <a:xfrm>
            <a:off x="7296840" y="96012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5182d"/>
          </a:solidFill>
          <a:ln w="19050">
            <a:solidFill>
              <a:srgbClr val="8e44a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Rectangle 15"/>
          <p:cNvSpPr/>
          <p:nvPr/>
        </p:nvSpPr>
        <p:spPr>
          <a:xfrm>
            <a:off x="7315200" y="960120"/>
            <a:ext cx="2353320" cy="45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16"/>
          <p:cNvSpPr/>
          <p:nvPr/>
        </p:nvSpPr>
        <p:spPr>
          <a:xfrm>
            <a:off x="7388280" y="1024200"/>
            <a:ext cx="2206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8e44ad"/>
                </a:solidFill>
                <a:latin typeface="Calibri"/>
              </a:rPr>
              <a:t>CS-Studio / Display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17"/>
          <p:cNvSpPr/>
          <p:nvPr/>
        </p:nvSpPr>
        <p:spPr>
          <a:xfrm>
            <a:off x="7388280" y="1234440"/>
            <a:ext cx="22068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alibri"/>
              </a:rPr>
              <a:t>Build &amp; display deployment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Rounded Rectangle 18"/>
          <p:cNvSpPr/>
          <p:nvPr/>
        </p:nvSpPr>
        <p:spPr>
          <a:xfrm>
            <a:off x="9916200" y="960120"/>
            <a:ext cx="1955160" cy="502200"/>
          </a:xfrm>
          <a:prstGeom prst="roundRect">
            <a:avLst>
              <a:gd name="adj" fmla="val 6000"/>
            </a:avLst>
          </a:prstGeom>
          <a:solidFill>
            <a:srgbClr val="15222d"/>
          </a:solidFill>
          <a:ln w="19050">
            <a:solidFill>
              <a:srgbClr val="2980b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Rectangle 19"/>
          <p:cNvSpPr/>
          <p:nvPr/>
        </p:nvSpPr>
        <p:spPr>
          <a:xfrm>
            <a:off x="9934200" y="960120"/>
            <a:ext cx="1918440" cy="45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20"/>
          <p:cNvSpPr/>
          <p:nvPr/>
        </p:nvSpPr>
        <p:spPr>
          <a:xfrm>
            <a:off x="10007640" y="1024200"/>
            <a:ext cx="1772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2980b9"/>
                </a:solidFill>
                <a:latin typeface="Calibri"/>
              </a:rPr>
              <a:t>Utility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21"/>
          <p:cNvSpPr/>
          <p:nvPr/>
        </p:nvSpPr>
        <p:spPr>
          <a:xfrm>
            <a:off x="10007640" y="1234440"/>
            <a:ext cx="1772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alibri"/>
              </a:rPr>
              <a:t>Helper &amp; maintenance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Rounded Rectangle 22"/>
          <p:cNvSpPr/>
          <p:nvPr/>
        </p:nvSpPr>
        <p:spPr>
          <a:xfrm>
            <a:off x="320040" y="153612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23"/>
          <p:cNvSpPr/>
          <p:nvPr/>
        </p:nvSpPr>
        <p:spPr>
          <a:xfrm>
            <a:off x="393120" y="155448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67e22"/>
                </a:solidFill>
                <a:latin typeface="Calibri"/>
              </a:rPr>
              <a:t>epics_tools_libs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24"/>
          <p:cNvSpPr/>
          <p:nvPr/>
        </p:nvSpPr>
        <p:spPr>
          <a:xfrm>
            <a:off x="393120" y="173736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JDK &amp; Maven installs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Rounded Rectangle 25"/>
          <p:cNvSpPr/>
          <p:nvPr/>
        </p:nvSpPr>
        <p:spPr>
          <a:xfrm>
            <a:off x="320040" y="209412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26"/>
          <p:cNvSpPr/>
          <p:nvPr/>
        </p:nvSpPr>
        <p:spPr>
          <a:xfrm>
            <a:off x="393120" y="211212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67e22"/>
                </a:solidFill>
                <a:latin typeface="Calibri"/>
              </a:rPr>
              <a:t>services_elastic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Box 27"/>
          <p:cNvSpPr/>
          <p:nvPr/>
        </p:nvSpPr>
        <p:spPr>
          <a:xfrm>
            <a:off x="393120" y="229500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Elasticsearch 8.x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Rounded Rectangle 28"/>
          <p:cNvSpPr/>
          <p:nvPr/>
        </p:nvSpPr>
        <p:spPr>
          <a:xfrm>
            <a:off x="320040" y="265176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29"/>
          <p:cNvSpPr/>
          <p:nvPr/>
        </p:nvSpPr>
        <p:spPr>
          <a:xfrm>
            <a:off x="393120" y="267012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67e22"/>
                </a:solidFill>
                <a:latin typeface="Calibri"/>
              </a:rPr>
              <a:t>services_kafka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Box 30"/>
          <p:cNvSpPr/>
          <p:nvPr/>
        </p:nvSpPr>
        <p:spPr>
          <a:xfrm>
            <a:off x="393120" y="285300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Kafka &amp; Zookeeper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Rounded Rectangle 31"/>
          <p:cNvSpPr/>
          <p:nvPr/>
        </p:nvSpPr>
        <p:spPr>
          <a:xfrm>
            <a:off x="320040" y="320940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32"/>
          <p:cNvSpPr/>
          <p:nvPr/>
        </p:nvSpPr>
        <p:spPr>
          <a:xfrm>
            <a:off x="393120" y="322776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67e22"/>
                </a:solidFill>
                <a:latin typeface="Calibri"/>
              </a:rPr>
              <a:t>services_mongo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33"/>
          <p:cNvSpPr/>
          <p:nvPr/>
        </p:nvSpPr>
        <p:spPr>
          <a:xfrm>
            <a:off x="393120" y="341064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MongoDB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ounded Rectangle 34"/>
          <p:cNvSpPr/>
          <p:nvPr/>
        </p:nvSpPr>
        <p:spPr>
          <a:xfrm>
            <a:off x="320040" y="376740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35"/>
          <p:cNvSpPr/>
          <p:nvPr/>
        </p:nvSpPr>
        <p:spPr>
          <a:xfrm>
            <a:off x="393120" y="378576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67e22"/>
                </a:solidFill>
                <a:latin typeface="Calibri"/>
              </a:rPr>
              <a:t>services_tomcat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Box 36"/>
          <p:cNvSpPr/>
          <p:nvPr/>
        </p:nvSpPr>
        <p:spPr>
          <a:xfrm>
            <a:off x="393120" y="396864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Apache Tomcat server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ounded Rectangle 37"/>
          <p:cNvSpPr/>
          <p:nvPr/>
        </p:nvSpPr>
        <p:spPr>
          <a:xfrm>
            <a:off x="2939040" y="1383840"/>
            <a:ext cx="4128480" cy="484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38"/>
          <p:cNvSpPr/>
          <p:nvPr/>
        </p:nvSpPr>
        <p:spPr>
          <a:xfrm>
            <a:off x="3012480" y="139752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services_phoebus_alarm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39"/>
          <p:cNvSpPr/>
          <p:nvPr/>
        </p:nvSpPr>
        <p:spPr>
          <a:xfrm>
            <a:off x="3012480" y="153216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Alarm Server, Logger, Config Logger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Box 40"/>
          <p:cNvSpPr/>
          <p:nvPr/>
        </p:nvSpPr>
        <p:spPr>
          <a:xfrm>
            <a:off x="3012480" y="170712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elastic, kafka, libs, cs_studio_phoebus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Rounded Rectangle 41"/>
          <p:cNvSpPr/>
          <p:nvPr/>
        </p:nvSpPr>
        <p:spPr>
          <a:xfrm>
            <a:off x="2939040" y="1909080"/>
            <a:ext cx="4128480" cy="484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42"/>
          <p:cNvSpPr/>
          <p:nvPr/>
        </p:nvSpPr>
        <p:spPr>
          <a:xfrm>
            <a:off x="3012480" y="192276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services_phoebus_olog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43"/>
          <p:cNvSpPr/>
          <p:nvPr/>
        </p:nvSpPr>
        <p:spPr>
          <a:xfrm>
            <a:off x="3012480" y="205740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Operational Logging service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Box 44"/>
          <p:cNvSpPr/>
          <p:nvPr/>
        </p:nvSpPr>
        <p:spPr>
          <a:xfrm>
            <a:off x="3012480" y="223236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elastic, mongo, libs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Rounded Rectangle 45"/>
          <p:cNvSpPr/>
          <p:nvPr/>
        </p:nvSpPr>
        <p:spPr>
          <a:xfrm>
            <a:off x="2939040" y="2434320"/>
            <a:ext cx="4128480" cy="36936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TextBox 46"/>
          <p:cNvSpPr/>
          <p:nvPr/>
        </p:nvSpPr>
        <p:spPr>
          <a:xfrm>
            <a:off x="3012480" y="244728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services_phoebus_olog_webclient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47"/>
          <p:cNvSpPr/>
          <p:nvPr/>
        </p:nvSpPr>
        <p:spPr>
          <a:xfrm>
            <a:off x="3012480" y="258192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Olog web interface (Node.js)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Rounded Rectangle 48"/>
          <p:cNvSpPr/>
          <p:nvPr/>
        </p:nvSpPr>
        <p:spPr>
          <a:xfrm>
            <a:off x="2939040" y="2844720"/>
            <a:ext cx="4128480" cy="484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49"/>
          <p:cNvSpPr/>
          <p:nvPr/>
        </p:nvSpPr>
        <p:spPr>
          <a:xfrm>
            <a:off x="3012480" y="285840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services_cf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Box 50"/>
          <p:cNvSpPr/>
          <p:nvPr/>
        </p:nvSpPr>
        <p:spPr>
          <a:xfrm>
            <a:off x="3012480" y="299268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ChannelFinder service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Box 51"/>
          <p:cNvSpPr/>
          <p:nvPr/>
        </p:nvSpPr>
        <p:spPr>
          <a:xfrm>
            <a:off x="3012480" y="316764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elastic, libs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ounded Rectangle 52"/>
          <p:cNvSpPr/>
          <p:nvPr/>
        </p:nvSpPr>
        <p:spPr>
          <a:xfrm>
            <a:off x="2939040" y="3369600"/>
            <a:ext cx="4128480" cy="48384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53"/>
          <p:cNvSpPr/>
          <p:nvPr/>
        </p:nvSpPr>
        <p:spPr>
          <a:xfrm>
            <a:off x="3012480" y="338328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services_recceiver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54"/>
          <p:cNvSpPr/>
          <p:nvPr/>
        </p:nvSpPr>
        <p:spPr>
          <a:xfrm>
            <a:off x="3012480" y="351792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RecSync channel registration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Box 55"/>
          <p:cNvSpPr/>
          <p:nvPr/>
        </p:nvSpPr>
        <p:spPr>
          <a:xfrm>
            <a:off x="3012480" y="369252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services_cf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Rounded Rectangle 56"/>
          <p:cNvSpPr/>
          <p:nvPr/>
        </p:nvSpPr>
        <p:spPr>
          <a:xfrm>
            <a:off x="2939040" y="3894840"/>
            <a:ext cx="4128480" cy="48384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57"/>
          <p:cNvSpPr/>
          <p:nvPr/>
        </p:nvSpPr>
        <p:spPr>
          <a:xfrm>
            <a:off x="3012480" y="390816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services_save_restore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Box 58"/>
          <p:cNvSpPr/>
          <p:nvPr/>
        </p:nvSpPr>
        <p:spPr>
          <a:xfrm>
            <a:off x="3012480" y="404244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PV Save and Restore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Box 59"/>
          <p:cNvSpPr/>
          <p:nvPr/>
        </p:nvSpPr>
        <p:spPr>
          <a:xfrm>
            <a:off x="3012480" y="421812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elastic, libs, cs_studio_phoebus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Rounded Rectangle 60"/>
          <p:cNvSpPr/>
          <p:nvPr/>
        </p:nvSpPr>
        <p:spPr>
          <a:xfrm>
            <a:off x="2939040" y="4419720"/>
            <a:ext cx="4128480" cy="484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61"/>
          <p:cNvSpPr/>
          <p:nvPr/>
        </p:nvSpPr>
        <p:spPr>
          <a:xfrm>
            <a:off x="3012480" y="443304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services_phoebus_web_runtime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62"/>
          <p:cNvSpPr/>
          <p:nvPr/>
        </p:nvSpPr>
        <p:spPr>
          <a:xfrm>
            <a:off x="3012480" y="456768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Display Builder Web Runtime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63"/>
          <p:cNvSpPr/>
          <p:nvPr/>
        </p:nvSpPr>
        <p:spPr>
          <a:xfrm>
            <a:off x="3012480" y="474264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tomcat, libs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ounded Rectangle 64"/>
          <p:cNvSpPr/>
          <p:nvPr/>
        </p:nvSpPr>
        <p:spPr>
          <a:xfrm>
            <a:off x="2939040" y="4944600"/>
            <a:ext cx="4128480" cy="48384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65"/>
          <p:cNvSpPr/>
          <p:nvPr/>
        </p:nvSpPr>
        <p:spPr>
          <a:xfrm>
            <a:off x="3012480" y="495828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services_aa_cluster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Box 66"/>
          <p:cNvSpPr/>
          <p:nvPr/>
        </p:nvSpPr>
        <p:spPr>
          <a:xfrm>
            <a:off x="3012480" y="509292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Archiver Appliance cluster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67"/>
          <p:cNvSpPr/>
          <p:nvPr/>
        </p:nvSpPr>
        <p:spPr>
          <a:xfrm>
            <a:off x="3012480" y="526788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MySQL (external)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ounded Rectangle 68"/>
          <p:cNvSpPr/>
          <p:nvPr/>
        </p:nvSpPr>
        <p:spPr>
          <a:xfrm>
            <a:off x="2939040" y="5469480"/>
            <a:ext cx="4128480" cy="484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69"/>
          <p:cNvSpPr/>
          <p:nvPr/>
        </p:nvSpPr>
        <p:spPr>
          <a:xfrm>
            <a:off x="3012480" y="5483160"/>
            <a:ext cx="3981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</a:rPr>
              <a:t>services_shift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Box 70"/>
          <p:cNvSpPr/>
          <p:nvPr/>
        </p:nvSpPr>
        <p:spPr>
          <a:xfrm>
            <a:off x="3012480" y="5617800"/>
            <a:ext cx="39819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Shift management (GlassFish)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71"/>
          <p:cNvSpPr/>
          <p:nvPr/>
        </p:nvSpPr>
        <p:spPr>
          <a:xfrm>
            <a:off x="3012480" y="5792400"/>
            <a:ext cx="3981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MySQL (external)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72"/>
          <p:cNvSpPr/>
          <p:nvPr/>
        </p:nvSpPr>
        <p:spPr>
          <a:xfrm>
            <a:off x="7296840" y="1536120"/>
            <a:ext cx="2389680" cy="65772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73"/>
          <p:cNvSpPr/>
          <p:nvPr/>
        </p:nvSpPr>
        <p:spPr>
          <a:xfrm>
            <a:off x="7369920" y="155448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8e44ad"/>
                </a:solidFill>
                <a:latin typeface="Calibri"/>
              </a:rPr>
              <a:t>cs_studio_phoebus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Box 74"/>
          <p:cNvSpPr/>
          <p:nvPr/>
        </p:nvSpPr>
        <p:spPr>
          <a:xfrm>
            <a:off x="7369920" y="173736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Build Phoebus products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75"/>
          <p:cNvSpPr/>
          <p:nvPr/>
        </p:nvSpPr>
        <p:spPr>
          <a:xfrm>
            <a:off x="7369920" y="1974960"/>
            <a:ext cx="22435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libs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76"/>
          <p:cNvSpPr/>
          <p:nvPr/>
        </p:nvSpPr>
        <p:spPr>
          <a:xfrm>
            <a:off x="7296840" y="224928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77"/>
          <p:cNvSpPr/>
          <p:nvPr/>
        </p:nvSpPr>
        <p:spPr>
          <a:xfrm>
            <a:off x="7369920" y="226764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8e44ad"/>
                </a:solidFill>
                <a:latin typeface="Calibri"/>
              </a:rPr>
              <a:t>cs_studio_preferences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Box 78"/>
          <p:cNvSpPr/>
          <p:nvPr/>
        </p:nvSpPr>
        <p:spPr>
          <a:xfrm>
            <a:off x="7369920" y="245052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Deploy CS-Studio/Phoebus prefs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ounded Rectangle 79"/>
          <p:cNvSpPr/>
          <p:nvPr/>
        </p:nvSpPr>
        <p:spPr>
          <a:xfrm>
            <a:off x="7296840" y="280728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80"/>
          <p:cNvSpPr/>
          <p:nvPr/>
        </p:nvSpPr>
        <p:spPr>
          <a:xfrm>
            <a:off x="7369920" y="282564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8e44ad"/>
                </a:solidFill>
                <a:latin typeface="Calibri"/>
              </a:rPr>
              <a:t>cs_studio_bobs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Box 81"/>
          <p:cNvSpPr/>
          <p:nvPr/>
        </p:nvSpPr>
        <p:spPr>
          <a:xfrm>
            <a:off x="7369920" y="300852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Deploy .bob display files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Rounded Rectangle 82"/>
          <p:cNvSpPr/>
          <p:nvPr/>
        </p:nvSpPr>
        <p:spPr>
          <a:xfrm>
            <a:off x="7296840" y="3364920"/>
            <a:ext cx="2389680" cy="50220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83"/>
          <p:cNvSpPr/>
          <p:nvPr/>
        </p:nvSpPr>
        <p:spPr>
          <a:xfrm>
            <a:off x="7369920" y="3383280"/>
            <a:ext cx="2243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8e44ad"/>
                </a:solidFill>
                <a:latin typeface="Calibri"/>
              </a:rPr>
              <a:t>cs_studio_bobs_web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84"/>
          <p:cNvSpPr/>
          <p:nvPr/>
        </p:nvSpPr>
        <p:spPr>
          <a:xfrm>
            <a:off x="7369920" y="3566160"/>
            <a:ext cx="2243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Deploy web .bob display files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Rounded Rectangle 85"/>
          <p:cNvSpPr/>
          <p:nvPr/>
        </p:nvSpPr>
        <p:spPr>
          <a:xfrm>
            <a:off x="9916200" y="1536120"/>
            <a:ext cx="1955160" cy="65772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86"/>
          <p:cNvSpPr/>
          <p:nvPr/>
        </p:nvSpPr>
        <p:spPr>
          <a:xfrm>
            <a:off x="9989280" y="1554480"/>
            <a:ext cx="1809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980b9"/>
                </a:solidFill>
                <a:latin typeface="Calibri"/>
              </a:rPr>
              <a:t>cs_studio_bobs_web_cache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Box 87"/>
          <p:cNvSpPr/>
          <p:nvPr/>
        </p:nvSpPr>
        <p:spPr>
          <a:xfrm>
            <a:off x="9989280" y="1737360"/>
            <a:ext cx="1809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Flush DBWR cache after</a:t>
            </a:r>
            <a:br>
              <a:rPr sz="700"/>
            </a:br>
            <a:r>
              <a:rPr b="0" lang="en-US" sz="700" spc="-1" strike="noStrike">
                <a:solidFill>
                  <a:srgbClr val="bbbbcc"/>
                </a:solidFill>
                <a:latin typeface="Calibri"/>
              </a:rPr>
              <a:t>BOB file deployment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88"/>
          <p:cNvSpPr/>
          <p:nvPr/>
        </p:nvSpPr>
        <p:spPr>
          <a:xfrm>
            <a:off x="9989280" y="1974960"/>
            <a:ext cx="18090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650" spc="-1" strike="noStrike">
                <a:solidFill>
                  <a:srgbClr val="e67e22"/>
                </a:solidFill>
                <a:latin typeface="Calibri"/>
              </a:rPr>
              <a:t>Requires: phoebus_web_runtime</a:t>
            </a:r>
            <a:endParaRPr b="0" lang="en-US" sz="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Box 89"/>
          <p:cNvSpPr/>
          <p:nvPr/>
        </p:nvSpPr>
        <p:spPr>
          <a:xfrm>
            <a:off x="457200" y="6126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88899"/>
                </a:solidFill>
                <a:latin typeface="Calibri"/>
              </a:rPr>
              <a:t>Deployment order:   Infrastructure  →  CS-Studio Build  →  EPICS Services  →  Utility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Oval 90"/>
          <p:cNvSpPr/>
          <p:nvPr/>
        </p:nvSpPr>
        <p:spPr>
          <a:xfrm>
            <a:off x="2286000" y="6391800"/>
            <a:ext cx="136440" cy="1364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91"/>
          <p:cNvSpPr/>
          <p:nvPr/>
        </p:nvSpPr>
        <p:spPr>
          <a:xfrm>
            <a:off x="2468880" y="6355080"/>
            <a:ext cx="1828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bbbbcc"/>
                </a:solidFill>
                <a:latin typeface="Calibri"/>
              </a:rPr>
              <a:t>Infrastructure / Dependency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Oval 92"/>
          <p:cNvSpPr/>
          <p:nvPr/>
        </p:nvSpPr>
        <p:spPr>
          <a:xfrm>
            <a:off x="4297680" y="6428520"/>
            <a:ext cx="136440" cy="1029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93"/>
          <p:cNvSpPr/>
          <p:nvPr/>
        </p:nvSpPr>
        <p:spPr>
          <a:xfrm>
            <a:off x="4480560" y="6400800"/>
            <a:ext cx="1828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bbbbcc"/>
                </a:solidFill>
                <a:latin typeface="Calibri"/>
              </a:rPr>
              <a:t>EPICS Service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Oval 94"/>
          <p:cNvSpPr/>
          <p:nvPr/>
        </p:nvSpPr>
        <p:spPr>
          <a:xfrm>
            <a:off x="6309360" y="6428520"/>
            <a:ext cx="136440" cy="10296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95"/>
          <p:cNvSpPr/>
          <p:nvPr/>
        </p:nvSpPr>
        <p:spPr>
          <a:xfrm>
            <a:off x="6492240" y="6355080"/>
            <a:ext cx="1828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bbbbcc"/>
                </a:solidFill>
                <a:latin typeface="Calibri"/>
              </a:rPr>
              <a:t>CS-Studio / Display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Oval 96"/>
          <p:cNvSpPr/>
          <p:nvPr/>
        </p:nvSpPr>
        <p:spPr>
          <a:xfrm>
            <a:off x="8321040" y="6391800"/>
            <a:ext cx="136440" cy="1364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97"/>
          <p:cNvSpPr/>
          <p:nvPr/>
        </p:nvSpPr>
        <p:spPr>
          <a:xfrm>
            <a:off x="8503920" y="6355080"/>
            <a:ext cx="1828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bbbbcc"/>
                </a:solidFill>
                <a:latin typeface="Calibri"/>
              </a:rPr>
              <a:t>Utility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Rectangle 3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4"/>
          <p:cNvSpPr/>
          <p:nvPr/>
        </p:nvSpPr>
        <p:spPr>
          <a:xfrm>
            <a:off x="457200" y="137160"/>
            <a:ext cx="91436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Public Collection + Private Configuration Pattern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5"/>
          <p:cNvSpPr/>
          <p:nvPr/>
        </p:nvSpPr>
        <p:spPr>
          <a:xfrm>
            <a:off x="457200" y="548640"/>
            <a:ext cx="10972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888899"/>
                </a:solidFill>
                <a:latin typeface="Calibri"/>
              </a:rPr>
              <a:t>Generic, reusable Ansible collections paired with organization-specific private variable repos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Box 6"/>
          <p:cNvSpPr/>
          <p:nvPr/>
        </p:nvSpPr>
        <p:spPr>
          <a:xfrm>
            <a:off x="365760" y="100584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4a90d9"/>
                </a:solidFill>
                <a:latin typeface="Calibri"/>
              </a:rPr>
              <a:t>EPICS Services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Rounded Rectangle 7"/>
          <p:cNvSpPr/>
          <p:nvPr/>
        </p:nvSpPr>
        <p:spPr>
          <a:xfrm>
            <a:off x="365760" y="1325880"/>
            <a:ext cx="4845960" cy="2285640"/>
          </a:xfrm>
          <a:prstGeom prst="roundRect">
            <a:avLst>
              <a:gd name="adj" fmla="val 6000"/>
            </a:avLst>
          </a:prstGeom>
          <a:solidFill>
            <a:srgbClr val="152d1e"/>
          </a:solidFill>
          <a:ln w="25400">
            <a:solidFill>
              <a:srgbClr val="27ae6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Rectangle 8"/>
          <p:cNvSpPr/>
          <p:nvPr/>
        </p:nvSpPr>
        <p:spPr>
          <a:xfrm>
            <a:off x="384120" y="1325880"/>
            <a:ext cx="4809240" cy="45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TextBox 9"/>
          <p:cNvSpPr/>
          <p:nvPr/>
        </p:nvSpPr>
        <p:spPr>
          <a:xfrm>
            <a:off x="502920" y="1435680"/>
            <a:ext cx="273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7ae60"/>
                </a:solidFill>
                <a:latin typeface="Calibri"/>
              </a:rPr>
              <a:t>○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Box 10"/>
          <p:cNvSpPr/>
          <p:nvPr/>
        </p:nvSpPr>
        <p:spPr>
          <a:xfrm>
            <a:off x="777240" y="141732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nsls2.epics_services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Box 11"/>
          <p:cNvSpPr/>
          <p:nvPr/>
        </p:nvSpPr>
        <p:spPr>
          <a:xfrm>
            <a:off x="777240" y="1664280"/>
            <a:ext cx="4297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onsolas"/>
              </a:rPr>
              <a:t>github.com/NSLS2/nsls2.epics_services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Box 12"/>
          <p:cNvSpPr/>
          <p:nvPr/>
        </p:nvSpPr>
        <p:spPr>
          <a:xfrm>
            <a:off x="502920" y="1874520"/>
            <a:ext cx="4571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bbbcc"/>
                </a:solidFill>
                <a:latin typeface="Calibri"/>
              </a:rPr>
              <a:t>Public Ansible collection — generic, parameterized roles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Box 13"/>
          <p:cNvSpPr/>
          <p:nvPr/>
        </p:nvSpPr>
        <p:spPr>
          <a:xfrm>
            <a:off x="502920" y="2148840"/>
            <a:ext cx="4571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27ae60"/>
                </a:solidFill>
                <a:latin typeface="Calibri"/>
              </a:rPr>
              <a:t>Contains: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Box 14"/>
          <p:cNvSpPr/>
          <p:nvPr/>
        </p:nvSpPr>
        <p:spPr>
          <a:xfrm>
            <a:off x="594360" y="233172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Deployment logic for 19 service roles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Box 15"/>
          <p:cNvSpPr/>
          <p:nvPr/>
        </p:nvSpPr>
        <p:spPr>
          <a:xfrm>
            <a:off x="594360" y="248724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Parameterized defaults (empty URLs, hostnames, certs)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Box 16"/>
          <p:cNvSpPr/>
          <p:nvPr/>
        </p:nvSpPr>
        <p:spPr>
          <a:xfrm>
            <a:off x="594360" y="264276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e.g., alarm_config: ""  alarm_mail_server: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Box 17"/>
          <p:cNvSpPr/>
          <p:nvPr/>
        </p:nvSpPr>
        <p:spPr>
          <a:xfrm>
            <a:off x="594360" y="279792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e.g., aa_trusted_proxies: []  aa_ssl_cert_file: ""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Box 18"/>
          <p:cNvSpPr/>
          <p:nvPr/>
        </p:nvSpPr>
        <p:spPr>
          <a:xfrm>
            <a:off x="594360" y="295344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Reusable by any organization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Rectangle 19"/>
          <p:cNvSpPr/>
          <p:nvPr/>
        </p:nvSpPr>
        <p:spPr>
          <a:xfrm>
            <a:off x="5349240" y="2404800"/>
            <a:ext cx="1508400" cy="36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Isosceles Triangle 20"/>
          <p:cNvSpPr/>
          <p:nvPr/>
        </p:nvSpPr>
        <p:spPr>
          <a:xfrm rot="5400000">
            <a:off x="6812640" y="2313360"/>
            <a:ext cx="182520" cy="219240"/>
          </a:xfrm>
          <a:prstGeom prst="triangle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21"/>
          <p:cNvSpPr/>
          <p:nvPr/>
        </p:nvSpPr>
        <p:spPr>
          <a:xfrm>
            <a:off x="5349240" y="2130480"/>
            <a:ext cx="16455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700" spc="-1" strike="noStrike">
                <a:solidFill>
                  <a:srgbClr val="f39c12"/>
                </a:solidFill>
                <a:latin typeface="Calibri"/>
              </a:rPr>
              <a:t>configures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Rounded Rectangle 22"/>
          <p:cNvSpPr/>
          <p:nvPr/>
        </p:nvSpPr>
        <p:spPr>
          <a:xfrm>
            <a:off x="7132320" y="1325880"/>
            <a:ext cx="4845960" cy="2285640"/>
          </a:xfrm>
          <a:prstGeom prst="roundRect">
            <a:avLst>
              <a:gd name="adj" fmla="val 6000"/>
            </a:avLst>
          </a:prstGeom>
          <a:solidFill>
            <a:srgbClr val="2d1818"/>
          </a:solidFill>
          <a:ln w="25400">
            <a:solidFill>
              <a:srgbClr val="e74c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Rectangle 23"/>
          <p:cNvSpPr/>
          <p:nvPr/>
        </p:nvSpPr>
        <p:spPr>
          <a:xfrm>
            <a:off x="7150680" y="1325880"/>
            <a:ext cx="4809240" cy="45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24"/>
          <p:cNvSpPr/>
          <p:nvPr/>
        </p:nvSpPr>
        <p:spPr>
          <a:xfrm>
            <a:off x="7269480" y="1435680"/>
            <a:ext cx="273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74c3c"/>
                </a:solidFill>
                <a:latin typeface="Calibri"/>
              </a:rPr>
              <a:t>■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Box 25"/>
          <p:cNvSpPr/>
          <p:nvPr/>
        </p:nvSpPr>
        <p:spPr>
          <a:xfrm>
            <a:off x="7543800" y="141732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epics_services_host_vars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6"/>
          <p:cNvSpPr/>
          <p:nvPr/>
        </p:nvSpPr>
        <p:spPr>
          <a:xfrm>
            <a:off x="7543800" y="1664280"/>
            <a:ext cx="4297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onsolas"/>
              </a:rPr>
              <a:t>github.com/NSLS2/epics_services_host_vars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Box 27"/>
          <p:cNvSpPr/>
          <p:nvPr/>
        </p:nvSpPr>
        <p:spPr>
          <a:xfrm>
            <a:off x="7269480" y="1874520"/>
            <a:ext cx="4571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bbbcc"/>
                </a:solidFill>
                <a:latin typeface="Calibri"/>
              </a:rPr>
              <a:t>Private repo — NSLS-II specific variables &amp; secrets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28"/>
          <p:cNvSpPr/>
          <p:nvPr/>
        </p:nvSpPr>
        <p:spPr>
          <a:xfrm>
            <a:off x="7269480" y="2148840"/>
            <a:ext cx="4571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e74c3c"/>
                </a:solidFill>
                <a:latin typeface="Calibri"/>
              </a:rPr>
              <a:t>Contains: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29"/>
          <p:cNvSpPr/>
          <p:nvPr/>
        </p:nvSpPr>
        <p:spPr>
          <a:xfrm>
            <a:off x="7360920" y="233172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group_vars/all.yml with NSLS-II values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Box 30"/>
          <p:cNvSpPr/>
          <p:nvPr/>
        </p:nvSpPr>
        <p:spPr>
          <a:xfrm>
            <a:off x="7360920" y="248724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Internal hostnames (*.nsls2.bnl.gov)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Box 31"/>
          <p:cNvSpPr/>
          <p:nvPr/>
        </p:nvSpPr>
        <p:spPr>
          <a:xfrm>
            <a:off x="7360920" y="264276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SSL cert paths, LDAP servers, mail config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Box 32"/>
          <p:cNvSpPr/>
          <p:nvPr/>
        </p:nvSpPr>
        <p:spPr>
          <a:xfrm>
            <a:off x="7360920" y="279792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Network IPs, trusted proxies, CA addr lists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Box 33"/>
          <p:cNvSpPr/>
          <p:nvPr/>
        </p:nvSpPr>
        <p:spPr>
          <a:xfrm>
            <a:off x="7360920" y="295344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Vault-encrypted secrets (.gitignore: *vault*.yml)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Box 34"/>
          <p:cNvSpPr/>
          <p:nvPr/>
        </p:nvSpPr>
        <p:spPr>
          <a:xfrm>
            <a:off x="365760" y="3840480"/>
            <a:ext cx="5486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4a90d9"/>
                </a:solidFill>
                <a:latin typeface="Calibri"/>
              </a:rPr>
              <a:t>IOC Deployment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Rounded Rectangle 35"/>
          <p:cNvSpPr/>
          <p:nvPr/>
        </p:nvSpPr>
        <p:spPr>
          <a:xfrm>
            <a:off x="365760" y="4160520"/>
            <a:ext cx="4845960" cy="2102760"/>
          </a:xfrm>
          <a:prstGeom prst="roundRect">
            <a:avLst>
              <a:gd name="adj" fmla="val 6000"/>
            </a:avLst>
          </a:prstGeom>
          <a:solidFill>
            <a:srgbClr val="152d1e"/>
          </a:solidFill>
          <a:ln w="25400">
            <a:solidFill>
              <a:srgbClr val="27ae6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Rectangle 36"/>
          <p:cNvSpPr/>
          <p:nvPr/>
        </p:nvSpPr>
        <p:spPr>
          <a:xfrm>
            <a:off x="384120" y="4160520"/>
            <a:ext cx="4809240" cy="45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TextBox 37"/>
          <p:cNvSpPr/>
          <p:nvPr/>
        </p:nvSpPr>
        <p:spPr>
          <a:xfrm>
            <a:off x="502920" y="4270320"/>
            <a:ext cx="273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27ae60"/>
                </a:solidFill>
                <a:latin typeface="Calibri"/>
              </a:rPr>
              <a:t>○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Box 38"/>
          <p:cNvSpPr/>
          <p:nvPr/>
        </p:nvSpPr>
        <p:spPr>
          <a:xfrm>
            <a:off x="777240" y="425196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nsls2.ioc_deploy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Box 39"/>
          <p:cNvSpPr/>
          <p:nvPr/>
        </p:nvSpPr>
        <p:spPr>
          <a:xfrm>
            <a:off x="777240" y="4498920"/>
            <a:ext cx="4297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onsolas"/>
              </a:rPr>
              <a:t>github.com/NSLS2/nsls2.ioc_deploy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Box 40"/>
          <p:cNvSpPr/>
          <p:nvPr/>
        </p:nvSpPr>
        <p:spPr>
          <a:xfrm>
            <a:off x="502920" y="4709160"/>
            <a:ext cx="4571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bbbcc"/>
                </a:solidFill>
                <a:latin typeface="Calibri"/>
              </a:rPr>
              <a:t>Public Ansible collection — generic IOC deployment roles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41"/>
          <p:cNvSpPr/>
          <p:nvPr/>
        </p:nvSpPr>
        <p:spPr>
          <a:xfrm>
            <a:off x="502920" y="4983480"/>
            <a:ext cx="4571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27ae60"/>
                </a:solidFill>
                <a:latin typeface="Calibri"/>
              </a:rPr>
              <a:t>Contains: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Box 42"/>
          <p:cNvSpPr/>
          <p:nvPr/>
        </p:nvSpPr>
        <p:spPr>
          <a:xfrm>
            <a:off x="594360" y="516636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50+ device roles (adpilatus, lakeshore, motors, ...)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Box 43"/>
          <p:cNvSpPr/>
          <p:nvPr/>
        </p:nvSpPr>
        <p:spPr>
          <a:xfrm>
            <a:off x="594360" y="532188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Schema-defined inputs (PREFIX, IP, dimensions)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Box 44"/>
          <p:cNvSpPr/>
          <p:nvPr/>
        </p:nvSpPr>
        <p:spPr>
          <a:xfrm>
            <a:off x="594360" y="547740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Generic build, deploy, systemd management logic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Box 45"/>
          <p:cNvSpPr/>
          <p:nvPr/>
        </p:nvSpPr>
        <p:spPr>
          <a:xfrm>
            <a:off x="594360" y="563256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Reusable by any EPICS facility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Rectangle 46"/>
          <p:cNvSpPr/>
          <p:nvPr/>
        </p:nvSpPr>
        <p:spPr>
          <a:xfrm>
            <a:off x="5349240" y="5148000"/>
            <a:ext cx="1508400" cy="36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Isosceles Triangle 47"/>
          <p:cNvSpPr/>
          <p:nvPr/>
        </p:nvSpPr>
        <p:spPr>
          <a:xfrm rot="5400000">
            <a:off x="6812640" y="5056560"/>
            <a:ext cx="182520" cy="219240"/>
          </a:xfrm>
          <a:prstGeom prst="triangle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48"/>
          <p:cNvSpPr/>
          <p:nvPr/>
        </p:nvSpPr>
        <p:spPr>
          <a:xfrm>
            <a:off x="5349240" y="4873680"/>
            <a:ext cx="164556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700" spc="-1" strike="noStrike">
                <a:solidFill>
                  <a:srgbClr val="f39c12"/>
                </a:solidFill>
                <a:latin typeface="Calibri"/>
              </a:rPr>
              <a:t>configures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Rounded Rectangle 49"/>
          <p:cNvSpPr/>
          <p:nvPr/>
        </p:nvSpPr>
        <p:spPr>
          <a:xfrm>
            <a:off x="7132320" y="4160520"/>
            <a:ext cx="4845960" cy="2102760"/>
          </a:xfrm>
          <a:prstGeom prst="roundRect">
            <a:avLst>
              <a:gd name="adj" fmla="val 6000"/>
            </a:avLst>
          </a:prstGeom>
          <a:solidFill>
            <a:srgbClr val="2d1818"/>
          </a:solidFill>
          <a:ln w="25400">
            <a:solidFill>
              <a:srgbClr val="e74c3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Rectangle 50"/>
          <p:cNvSpPr/>
          <p:nvPr/>
        </p:nvSpPr>
        <p:spPr>
          <a:xfrm>
            <a:off x="7150680" y="4160520"/>
            <a:ext cx="4809240" cy="45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51"/>
          <p:cNvSpPr/>
          <p:nvPr/>
        </p:nvSpPr>
        <p:spPr>
          <a:xfrm>
            <a:off x="7269480" y="4270320"/>
            <a:ext cx="273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e74c3c"/>
                </a:solidFill>
                <a:latin typeface="Calibri"/>
              </a:rPr>
              <a:t>■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Box 52"/>
          <p:cNvSpPr/>
          <p:nvPr/>
        </p:nvSpPr>
        <p:spPr>
          <a:xfrm>
            <a:off x="7543800" y="4251960"/>
            <a:ext cx="4297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ioc_host_vars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Box 53"/>
          <p:cNvSpPr/>
          <p:nvPr/>
        </p:nvSpPr>
        <p:spPr>
          <a:xfrm>
            <a:off x="7543800" y="4498920"/>
            <a:ext cx="42973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888899"/>
                </a:solidFill>
                <a:latin typeface="Consolas"/>
              </a:rPr>
              <a:t>github.com/NSLS2/ioc_host_vars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Box 54"/>
          <p:cNvSpPr/>
          <p:nvPr/>
        </p:nvSpPr>
        <p:spPr>
          <a:xfrm>
            <a:off x="7269480" y="4709160"/>
            <a:ext cx="4571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bbbcc"/>
                </a:solidFill>
                <a:latin typeface="Calibri"/>
              </a:rPr>
              <a:t>Private repo — NSLS-II beamline IOC instance configs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55"/>
          <p:cNvSpPr/>
          <p:nvPr/>
        </p:nvSpPr>
        <p:spPr>
          <a:xfrm>
            <a:off x="7269480" y="4983480"/>
            <a:ext cx="45716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e74c3c"/>
                </a:solidFill>
                <a:latin typeface="Calibri"/>
              </a:rPr>
              <a:t>Contains: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56"/>
          <p:cNvSpPr/>
          <p:nvPr/>
        </p:nvSpPr>
        <p:spPr>
          <a:xfrm>
            <a:off x="7360920" y="516636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Per-host YAML: xf06bm-ioc1/Pilatus100K.yml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57"/>
          <p:cNvSpPr/>
          <p:nvPr/>
        </p:nvSpPr>
        <p:spPr>
          <a:xfrm>
            <a:off x="7360920" y="532188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Beamline-specific PV prefixes (XF:06BM-ES{...})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Box 58"/>
          <p:cNvSpPr/>
          <p:nvPr/>
        </p:nvSpPr>
        <p:spPr>
          <a:xfrm>
            <a:off x="7360920" y="547740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Hardware IPs &amp; hostnames for real devices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Box 59"/>
          <p:cNvSpPr/>
          <p:nvPr/>
        </p:nvSpPr>
        <p:spPr>
          <a:xfrm>
            <a:off x="7360920" y="5632560"/>
            <a:ext cx="4480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•  </a:t>
            </a:r>
            <a:r>
              <a:rPr b="0" lang="en-US" sz="800" spc="-1" strike="noStrike">
                <a:solidFill>
                  <a:srgbClr val="bbbbcc"/>
                </a:solidFill>
                <a:latin typeface="Calibri"/>
              </a:rPr>
              <a:t>Organized: facility / beamline / host / ioc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Rounded Rectangle 60"/>
          <p:cNvSpPr/>
          <p:nvPr/>
        </p:nvSpPr>
        <p:spPr>
          <a:xfrm>
            <a:off x="1371600" y="6172200"/>
            <a:ext cx="9417960" cy="502560"/>
          </a:xfrm>
          <a:prstGeom prst="roundRect">
            <a:avLst>
              <a:gd name="adj" fmla="val 6000"/>
            </a:avLst>
          </a:prstGeom>
          <a:solidFill>
            <a:srgbClr val="22223a"/>
          </a:solidFill>
          <a:ln w="12700">
            <a:solidFill>
              <a:srgbClr val="4a90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TextBox 61"/>
          <p:cNvSpPr/>
          <p:nvPr/>
        </p:nvSpPr>
        <p:spPr>
          <a:xfrm>
            <a:off x="1645920" y="6217920"/>
            <a:ext cx="8960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Design principle:  Generic "how to deploy" logic is public and shareable.  Organization-specific "what to deploy where" stays private and secure.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2026-02-10T17:43:31Z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